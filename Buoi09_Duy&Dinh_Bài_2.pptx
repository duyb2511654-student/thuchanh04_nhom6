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7" r:id="rId12"/>
    <p:sldId id="268" r:id="rId13"/>
    <p:sldId id="269" r:id="rId14"/>
    <p:sldId id="270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6B8"/>
    <a:srgbClr val="300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A7279-B67C-498D-8B34-B40764B2C58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284D4-ABF8-4BD8-B47E-960004A03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9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ctr">
            <a:normAutofit/>
          </a:bodyPr>
          <a:lstStyle>
            <a:lvl1pPr algn="ctr">
              <a:defRPr sz="4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B65DA1F-746E-4ECC-852C-69D312EC246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A blue diamond with a torch and a yellow circle and a red flame&#10;&#10;AI-generated content may be incorrect.">
            <a:extLst>
              <a:ext uri="{FF2B5EF4-FFF2-40B4-BE49-F238E27FC236}">
                <a16:creationId xmlns:a16="http://schemas.microsoft.com/office/drawing/2014/main" id="{0771E540-CA8D-7E21-0361-8563A17B09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9000"/>
          </a:blip>
          <a:stretch>
            <a:fillRect/>
          </a:stretch>
        </p:blipFill>
        <p:spPr>
          <a:xfrm>
            <a:off x="9670939" y="530535"/>
            <a:ext cx="1540098" cy="15404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 descr="A blue diamond with a torch and a yellow circle and a red flame&#10;&#10;AI-generated content may be incorrect.">
            <a:extLst>
              <a:ext uri="{FF2B5EF4-FFF2-40B4-BE49-F238E27FC236}">
                <a16:creationId xmlns:a16="http://schemas.microsoft.com/office/drawing/2014/main" id="{C0D18B02-017C-EAA5-DF32-60BE52D90F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9670939" y="530535"/>
            <a:ext cx="1540098" cy="15404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Giới thiệu Đại học Cần Thơ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ue diamond with a torch and a yellow circle and a red flame&#10;&#10;AI-generated content may be incorrect.">
            <a:extLst>
              <a:ext uri="{FF2B5EF4-FFF2-40B4-BE49-F238E27FC236}">
                <a16:creationId xmlns:a16="http://schemas.microsoft.com/office/drawing/2014/main" id="{ECA7D83A-B129-4DD5-D43C-0BC6A986D6C7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 amt="49000"/>
          </a:blip>
          <a:stretch>
            <a:fillRect/>
          </a:stretch>
        </p:blipFill>
        <p:spPr>
          <a:xfrm>
            <a:off x="9670939" y="530535"/>
            <a:ext cx="1540098" cy="15404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⁻"/>
        <a:defRPr sz="28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⁺"/>
        <a:defRPr sz="24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5E50-2C49-02FA-D456-78320D3BD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ĐẠI HỌC CẦN THƠ – QUÁ</a:t>
            </a:r>
            <a:br>
              <a:rPr lang="en-US" sz="4800"/>
            </a:br>
            <a:r>
              <a:rPr lang="en-US" sz="4800"/>
              <a:t>TRÌNH HÌNH THÀNH VÀ</a:t>
            </a:r>
            <a:br>
              <a:rPr lang="en-US" sz="4800"/>
            </a:br>
            <a:r>
              <a:rPr lang="en-US" sz="4800"/>
              <a:t>PHÁT TRIỂN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11B12-2679-D401-F200-6A13A045A8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TS. NGUYỄN VĂN 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46CBF-69D8-5198-9780-8A182FAAD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8C80C-0D61-804E-B68C-1681FB11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5DA1F-746E-4ECC-852C-69D312EC246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4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6380-5F71-87D3-BBD3-50CC4DFFF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3349-2DCE-850A-A391-AB43B7D0A2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THỜI KỲ VIỆN ĐẠI HỌC CẦN THƠ (1996 – 1975)</a:t>
            </a:r>
          </a:p>
          <a:p>
            <a:r>
              <a:rPr lang="en-US"/>
              <a:t>ĐHCT GIAI ĐOẠN SAU NĂM 1975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5FB79-6493-8715-95E6-CD2BF5A2A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DC09F-4AD8-E5FD-6EBF-3CDA73BA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842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FDAAB-1921-E6F5-16FF-013BF3D7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THỜI KỲ VIỆN ĐẠI HỌC CẦN THƠ (1966 –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E5847-4ED1-AC70-F10E-9E774AC6CD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ĐƯỢC THÀNH LẬP NGÀY 31 THÁNG 03 </a:t>
            </a:r>
            <a:r>
              <a:rPr lang="en-US"/>
              <a:t>NĂM 1966</a:t>
            </a:r>
            <a:endParaRPr lang="en-US" dirty="0"/>
          </a:p>
          <a:p>
            <a:r>
              <a:rPr lang="en-US" dirty="0"/>
              <a:t>VIỆN ĐẠI HỌC CẦN THƠ CÓ BỐN KHOA:</a:t>
            </a:r>
          </a:p>
          <a:p>
            <a:pPr lvl="1"/>
            <a:r>
              <a:rPr lang="en-US" dirty="0"/>
              <a:t>KHOA HỌC</a:t>
            </a:r>
          </a:p>
          <a:p>
            <a:pPr lvl="1"/>
            <a:r>
              <a:rPr lang="en-US" dirty="0"/>
              <a:t>LUẬT KHOA</a:t>
            </a:r>
          </a:p>
          <a:p>
            <a:pPr lvl="1"/>
            <a:r>
              <a:rPr lang="en-US" dirty="0"/>
              <a:t>KHOA HỌC XÃ HỘI, VĂN KHOA, SƯ PHẠM</a:t>
            </a:r>
          </a:p>
          <a:p>
            <a:pPr lvl="1"/>
            <a:r>
              <a:rPr lang="en-US" dirty="0"/>
              <a:t>CAO ĐẲNG NÔNG NGHIỆP VÀ TRUNG TÂM SINH NGỮ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5BF84-20C6-2586-B9E1-72233F80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F31EC-C59F-6AE9-13DF-6ED8B564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94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44D06-8447-7749-CF31-B1B5A424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THỜI KỲ VIỆN ĐẠI HỌC CẦN THƠ (1966 –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608A4-3CEA-C93C-3950-A768A6C7D2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CƠ SỞ VẬT CHẤT CỦA VIỆN ĐẠI HỌC CẦN THƠ TỌA LẠC TRÊN 4 ĐỊA ĐIỂM</a:t>
            </a:r>
          </a:p>
          <a:p>
            <a:pPr lvl="1"/>
            <a:r>
              <a:rPr lang="en-US"/>
              <a:t>TÒA VIỆN TRƯỞNG (SỐ 5, ĐẠI LỘ HÒA BÌNH)</a:t>
            </a:r>
          </a:p>
          <a:p>
            <a:pPr lvl="1"/>
            <a:r>
              <a:rPr lang="en-US"/>
              <a:t>KHU I (ĐƯỜNG 30/4)</a:t>
            </a:r>
          </a:p>
          <a:p>
            <a:pPr lvl="1"/>
            <a:r>
              <a:rPr lang="en-US"/>
              <a:t>KHU ii (</a:t>
            </a:r>
            <a:r>
              <a:rPr lang="vi-VN"/>
              <a:t>Đườ</a:t>
            </a:r>
            <a:r>
              <a:rPr lang="en-US"/>
              <a:t>NG 3/2)</a:t>
            </a:r>
          </a:p>
          <a:p>
            <a:pPr lvl="1"/>
            <a:r>
              <a:rPr lang="en-US"/>
              <a:t>Khu Iii (số 1, lý tự trọng)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D0E89-85BB-D93D-CDA5-1DD0BFE17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8BACD-7AB9-29A5-4F4B-B64E8CD5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36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D97E-A997-ED57-BA47-CC0546E0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6479-776E-3F3D-C1FE-DD62417345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Viện đại học cần thơ được đổi thành đhct</a:t>
            </a:r>
          </a:p>
          <a:p>
            <a:r>
              <a:rPr lang="en-US"/>
              <a:t>Cơ cấu đhct hiện nay</a:t>
            </a:r>
          </a:p>
          <a:p>
            <a:pPr lvl="1"/>
            <a:r>
              <a:rPr lang="en-US"/>
              <a:t>Khoa – viện</a:t>
            </a:r>
          </a:p>
          <a:p>
            <a:pPr lvl="1"/>
            <a:r>
              <a:rPr lang="en-US"/>
              <a:t>Trung tâm – trung tâm đào tạo</a:t>
            </a:r>
          </a:p>
          <a:p>
            <a:pPr lvl="1"/>
            <a:r>
              <a:rPr lang="en-US"/>
              <a:t>Phòng ban chức năng</a:t>
            </a:r>
          </a:p>
          <a:p>
            <a:pPr lvl="1"/>
            <a:r>
              <a:rPr lang="en-US"/>
              <a:t>Đoàn thể &amp; hội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0724D-03AE-71F7-0E07-07B4706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D4D0CA-5E35-5AB9-AD84-08134212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1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1795-A0A2-E1BD-894A-9B0DBEA5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06E4-BB57-5D43-D709-F4BAA5D3D8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/>
              <a:t>Ngày 14/1/1998, trường đhct khánh thành khoa khoa học</a:t>
            </a:r>
          </a:p>
          <a:p>
            <a:pPr lvl="1"/>
            <a:r>
              <a:rPr lang="en-US"/>
              <a:t>Cơ sở vật chất</a:t>
            </a:r>
          </a:p>
          <a:p>
            <a:pPr lvl="2"/>
            <a:r>
              <a:rPr lang="en-US"/>
              <a:t>12 phòng thí nghiệm (ptn) cho sinh, hóa, vật lý</a:t>
            </a:r>
          </a:p>
          <a:p>
            <a:pPr lvl="2"/>
            <a:r>
              <a:rPr lang="en-US"/>
              <a:t>06 phòng máy tính được nối mạng với nhau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AB442-988F-3ED6-1E79-CA4150F0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F8919-70F3-AC84-1B4C-FFCDD647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304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4CFB-8D42-157B-B15A-00A3F0C8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B990D-B6D6-A887-181B-794E91B9A0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/>
              <a:t>Cơ sở vật chất</a:t>
            </a:r>
          </a:p>
          <a:p>
            <a:pPr lvl="2"/>
            <a:r>
              <a:rPr lang="en-US"/>
              <a:t>Vp khoa và xưởng sửa chữa</a:t>
            </a:r>
          </a:p>
          <a:p>
            <a:pPr lvl="2"/>
            <a:r>
              <a:rPr lang="en-US"/>
              <a:t>Năm 2010, trường đã đầu tư mở rộng khu ptn của khoa</a:t>
            </a:r>
          </a:p>
          <a:p>
            <a:pPr lvl="2"/>
            <a:r>
              <a:rPr lang="en-US"/>
              <a:t>Xây mới khu nhà 3 tầng với 22 phòng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68297-EE82-AF98-A462-29B387A6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69EE7-053A-855F-BDD1-160CE2C3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51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4CFB-8D42-157B-B15A-00A3F0C8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B990D-B6D6-A887-181B-794E91B9A0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/>
              <a:t>Khoa khtn hiện nay gồm 04 bộ môn</a:t>
            </a:r>
          </a:p>
          <a:p>
            <a:pPr lvl="2"/>
            <a:r>
              <a:rPr lang="en-US"/>
              <a:t>Bộ môn sinh học</a:t>
            </a:r>
          </a:p>
          <a:p>
            <a:pPr lvl="2"/>
            <a:r>
              <a:rPr lang="en-US"/>
              <a:t>Bộ môn hóa học</a:t>
            </a:r>
          </a:p>
          <a:p>
            <a:pPr lvl="2"/>
            <a:r>
              <a:rPr lang="en-US"/>
              <a:t>Bộ môn toán học</a:t>
            </a:r>
          </a:p>
          <a:p>
            <a:pPr lvl="2"/>
            <a:r>
              <a:rPr lang="en-US"/>
              <a:t>Bộ môn vật lý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68297-EE82-AF98-A462-29B387A6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69EE7-053A-855F-BDD1-160CE2C3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48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9A9CE-0751-6448-11AF-0DB03BAE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95DA-5E75-2359-3AD4-A9275770236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/>
              <a:t>Công tác đào tạo</a:t>
            </a:r>
          </a:p>
          <a:p>
            <a:pPr lvl="2"/>
            <a:r>
              <a:rPr lang="en-US"/>
              <a:t>Đại học: …..</a:t>
            </a:r>
          </a:p>
          <a:p>
            <a:pPr lvl="2"/>
            <a:r>
              <a:rPr lang="en-US"/>
              <a:t>Sđh: ….</a:t>
            </a:r>
          </a:p>
          <a:p>
            <a:pPr lvl="1"/>
            <a:r>
              <a:rPr lang="en-US"/>
              <a:t>Công tác nckh, báo cáo chuyên đề: …..</a:t>
            </a:r>
          </a:p>
          <a:p>
            <a:pPr lvl="1"/>
            <a:r>
              <a:rPr lang="en-US"/>
              <a:t>Công tác đào tạo và bồi dưỡng cán bộ: …..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8BFCA-18A8-FBD2-AC7D-472B373A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10E59-7282-6677-A010-3A3098C48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707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4138-B790-C320-CF84-4750A3BC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3BD96-41E7-730A-BCB0-D8600EA472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b="1">
                <a:solidFill>
                  <a:schemeClr val="accent1"/>
                </a:solidFill>
                <a:hlinkClick r:id="rId2"/>
              </a:rPr>
              <a:t>Khoa cntt &amp; tt</a:t>
            </a:r>
            <a:endParaRPr lang="en-US" b="1">
              <a:solidFill>
                <a:schemeClr val="accent1"/>
              </a:solidFill>
            </a:endParaRPr>
          </a:p>
          <a:p>
            <a:pPr lvl="1"/>
            <a:r>
              <a:rPr lang="en-US"/>
              <a:t>Được thành lập năm 1994 trên cơ sở trung tâm điện tử và tin học</a:t>
            </a:r>
          </a:p>
          <a:p>
            <a:pPr lvl="1"/>
            <a:r>
              <a:rPr lang="en-US"/>
              <a:t>Nhiệm vụ của khoa là đào tạo</a:t>
            </a:r>
          </a:p>
          <a:p>
            <a:pPr lvl="2"/>
            <a:r>
              <a:rPr lang="en-US"/>
              <a:t>Đại học và sau đại học</a:t>
            </a:r>
          </a:p>
          <a:p>
            <a:pPr lvl="2"/>
            <a:r>
              <a:rPr lang="en-US"/>
              <a:t>Nckh và chuyển giao công nghệ trong lĩnh vực cntt&amp;tt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C1875-690C-7645-E3D7-D4554CD2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69F88-BFFF-830C-74C1-A4FB4992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231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4138-B790-C320-CF84-4750A3BC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3BD96-41E7-730A-BCB0-D8600EA472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3C36B8"/>
                </a:solidFill>
              </a:rPr>
              <a:t>Khoa cntt &amp; tt</a:t>
            </a:r>
          </a:p>
          <a:p>
            <a:pPr lvl="1"/>
            <a:r>
              <a:rPr lang="en-US"/>
              <a:t>Tầm nhìn đến năm 2020</a:t>
            </a:r>
          </a:p>
          <a:p>
            <a:pPr lvl="2"/>
            <a:r>
              <a:rPr lang="en-US"/>
              <a:t>Đơn vị đào tạo và</a:t>
            </a:r>
          </a:p>
          <a:p>
            <a:pPr lvl="2"/>
            <a:r>
              <a:rPr lang="en-US"/>
              <a:t>Nghiên cứu khoa học về cntt&amp;tt mạnh của cả nước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C1875-690C-7645-E3D7-D4554CD2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69F88-BFFF-830C-74C1-A4FB4992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1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4138-B790-C320-CF84-4750A3BC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3BD96-41E7-730A-BCB0-D8600EA472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3C36B8"/>
                </a:solidFill>
              </a:rPr>
              <a:t>Khoa cntt &amp; tt</a:t>
            </a:r>
          </a:p>
          <a:p>
            <a:pPr lvl="1"/>
            <a:r>
              <a:rPr lang="en-US"/>
              <a:t>Các bộ môn và trung tâm</a:t>
            </a:r>
          </a:p>
          <a:p>
            <a:pPr lvl="2"/>
            <a:r>
              <a:rPr lang="en-US"/>
              <a:t>Bộ môn hệ thống thông tin</a:t>
            </a:r>
          </a:p>
          <a:p>
            <a:pPr lvl="2"/>
            <a:r>
              <a:rPr lang="en-US"/>
              <a:t>Bô môn mạng máy tính &amp; truyền thông</a:t>
            </a:r>
          </a:p>
          <a:p>
            <a:pPr lvl="2"/>
            <a:r>
              <a:rPr lang="en-US"/>
              <a:t>Bộ môn công nghệ phần mềm</a:t>
            </a:r>
          </a:p>
          <a:p>
            <a:pPr lvl="2"/>
            <a:r>
              <a:rPr lang="en-US"/>
              <a:t>Bộ môn khoa học máy tính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C1875-690C-7645-E3D7-D4554CD2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69F88-BFFF-830C-74C1-A4FB4992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197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4138-B790-C320-CF84-4750A3BC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3BD96-41E7-730A-BCB0-D8600EA472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3C36B8"/>
                </a:solidFill>
              </a:rPr>
              <a:t>Khoa cntt &amp; tt</a:t>
            </a:r>
          </a:p>
          <a:p>
            <a:pPr lvl="1"/>
            <a:r>
              <a:rPr lang="en-US"/>
              <a:t>Các bộ môn và trung tâm</a:t>
            </a:r>
          </a:p>
          <a:p>
            <a:pPr lvl="2"/>
            <a:r>
              <a:rPr lang="en-US"/>
              <a:t>Bộ môn công nghệ thông tin </a:t>
            </a:r>
          </a:p>
          <a:p>
            <a:pPr lvl="2"/>
            <a:r>
              <a:rPr lang="en-US"/>
              <a:t>Bộ môn tin học ứng dụng</a:t>
            </a:r>
          </a:p>
          <a:p>
            <a:pPr lvl="2"/>
            <a:r>
              <a:rPr lang="en-US"/>
              <a:t>Tổ văn phòng</a:t>
            </a:r>
          </a:p>
          <a:p>
            <a:pPr lvl="2"/>
            <a:r>
              <a:rPr lang="en-US"/>
              <a:t>Trung tâm điện tử &amp; tin học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C1875-690C-7645-E3D7-D4554CD2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69F88-BFFF-830C-74C1-A4FB4992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826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4138-B790-C320-CF84-4750A3BC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630912"/>
            <a:ext cx="10364451" cy="1596177"/>
          </a:xfrm>
        </p:spPr>
        <p:txBody>
          <a:bodyPr/>
          <a:lstStyle/>
          <a:p>
            <a:r>
              <a:rPr lang="en-US"/>
              <a:t>Cảm ơn sự chú ý của quý vị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C1875-690C-7645-E3D7-D4554CD2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69F88-BFFF-830C-74C1-A4FB4992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5226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159</TotalTime>
  <Words>628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1" baseType="lpstr">
      <vt:lpstr>Arial</vt:lpstr>
      <vt:lpstr>Aptos</vt:lpstr>
      <vt:lpstr>Times New Roman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CẦN THƠ (1966 – 1975)</vt:lpstr>
      <vt:lpstr>Đhct giai đoạn sau 1975</vt:lpstr>
      <vt:lpstr>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 Koiiwa</dc:creator>
  <cp:lastModifiedBy>RE Koiiwa</cp:lastModifiedBy>
  <cp:revision>7</cp:revision>
  <dcterms:created xsi:type="dcterms:W3CDTF">2026-01-29T01:11:56Z</dcterms:created>
  <dcterms:modified xsi:type="dcterms:W3CDTF">2026-02-04T04:24:08Z</dcterms:modified>
</cp:coreProperties>
</file>